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73152" cy="3200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맑은 고딕"/>
              </a:rPr>
              <a:t>수플렉스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747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5E7EB"/>
                </a:solidFill>
                <a:latin typeface="맑은 고딕"/>
              </a:rPr>
              <a:t>인테리어 회사를 위한 통합 운영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5E7EB"/>
                </a:solidFill>
                <a:latin typeface="맑은 고딕"/>
              </a:rPr>
              <a:t>개인의 능력이 아니라 회사의 능력이 올라가는 도구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5E7EB"/>
                </a:solidFill>
                <a:latin typeface="맑은 고딕"/>
              </a:rPr>
              <a:t>현장과 사무실, 대표와 직원을 한 줄로 잇습니다.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맑은 고딕"/>
              </a:rPr>
              <a:t>도입 검토용 소개서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5915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인테리어 회사가 매일 잃는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99923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한국 인테리어 6단계에 끼는 수플렉스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맑은 고딕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3931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실전 시나리오 — 강남 30평 박상철 고객 리모델링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맑은 고딕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27939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핵심 차별점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맑은 고딕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91947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도입 첫날 체크리스트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맑은 고딕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59552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다음 행동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>
                <a:solidFill>
                  <a:srgbClr val="FBBF24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인테리어 회사가 매일 잃는 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29200"/>
            <a:ext cx="54864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SUPLEX  ·  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01. 인테리어 회사가 매일 잃는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맑은 고딕"/>
              </a:rPr>
              <a:t>정보 단절과 사람 의존 — 사장님들이 가장 많이 호소하는 6가지 통증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맑은 고딕"/>
              </a:rPr>
              <a:t>정보 흩어짐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견적·일정·발주가 카톡·엑셀·노션에 흩어져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맑은 고딕"/>
              </a:rPr>
              <a:t>→ 변경 1건당 3~5곳 수동 동기화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57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맑은 고딕"/>
              </a:rPr>
              <a:t>모바일 가독성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2316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현장에서 일정 확인이 어렵다. 모바일 달력은 글씨가 안 보여 매번 팝업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56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맑은 고딕"/>
              </a:rPr>
              <a:t>→ 즉시 판단해야 할 때 시간 손실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57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맑은 고딕"/>
              </a:rPr>
              <a:t>정보 비대칭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2316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대표·디자이너·현장팀이 같은 정보를 다르게 알고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456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맑은 고딕"/>
              </a:rPr>
              <a:t>→ 변경이 일부에게만 전달 → 헷갈림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맑은 고딕"/>
              </a:rPr>
              <a:t>발주 누락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자재 발주를 깜빡. 시공일 임박해서 자재가 없는 걸 발견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96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맑은 고딕"/>
              </a:rPr>
              <a:t>→ 공기 지연 → 단가 상승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0690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297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맑은 고딕"/>
              </a:rPr>
              <a:t>결정 추적 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6634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마감재 결정이 자꾸 바뀌는데 어디까지 확정인지 추적 안 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696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맑은 고딕"/>
              </a:rPr>
              <a:t>→ 발주서가 옛날 결정 기준 → 자재 어긋남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690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사람 의존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6634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직원 머리 속에만 있는 노하우 — 어느 아파트가 까다롭고 어느 모델이 헐거워지는지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6967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맑은 고딕"/>
              </a:rPr>
              <a:t>→ 직원이 그만두면 회사 자산이 함께 사라짐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맑은 고딕"/>
              </a:rPr>
              <a:t>수플렉스의 약속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일을 쌓을수록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BBF24"/>
                </a:solidFill>
                <a:latin typeface="맑은 고딕"/>
              </a:rPr>
              <a:t>회사 자체의 능력이 두꺼워지는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E5E7EB"/>
                </a:solidFill>
                <a:latin typeface="맑은 고딕"/>
              </a:rPr>
              <a:t>직원이 떠나도 회사는 남습니다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SUPLEX  ·  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>
                <a:solidFill>
                  <a:srgbClr val="FBBF24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인테리어 6단계에 끼는 수플렉스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29200"/>
            <a:ext cx="54864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SUPLEX  ·  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02. 한국 인테리어 6단계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맑은 고딕"/>
              </a:rPr>
              <a:t>표준 6단계 흐름 + 각 단계마다 수플렉스가 자동으로 처리해주는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3911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맑은 고딕"/>
              </a:rPr>
              <a:t>현장실측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05740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프로젝트 카드 생성 — 면적·주소·고객 정보 한 번에 입력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3347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맑은 고딕"/>
              </a:rPr>
              <a:t>설계·디자인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가전 366개 모델 자동 검색(사이즈 자동 기입), 마감재 6단계 상태 추적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2783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맑은 고딕"/>
              </a:rPr>
              <a:t>견적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4612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간편 + 상세 두 양식, 회사 비율 12개 자동 적용, PDF 출력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E3A5F"/>
                </a:solidFill>
                <a:latin typeface="맑은 고딕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2219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4800A"/>
                </a:solidFill>
                <a:latin typeface="맑은 고딕"/>
              </a:rPr>
              <a:t>계획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84048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일정 입력 시 사전 체크리스트 자동, 발주 데드라인 자동 계산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1655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맑은 고딕"/>
              </a:rPr>
              <a:t>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43484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발주 탭 자연 연계, 임박 발주만 D-day 알림, 발주서 자동 작성·복사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1091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맑은 고딕"/>
              </a:rPr>
              <a:t>완공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02920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</a:rPr>
              <a:t>프로젝트 기록 누적(피드백·A/S·자재 노하우), JSON 백업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10972800" cy="6400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79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표준 4단계는 보통 "계약"이지만, 수플렉스는 클라이언트와 회사 간 계약에 관여하지 않습니다.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우리가 다루는 건 그 다음의 「계획(공정·자재 사전 준비)」 단계입니다.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맑은 고딕"/>
              </a:rPr>
              <a:t>03. 실전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강남 30평 박상철 고객 리모델링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0972800" cy="3200400"/>
          </a:xfrm>
          <a:prstGeom prst="roundRect">
            <a:avLst>
              <a:gd name="adj" fmla="val 6000"/>
            </a:avLst>
          </a:prstGeom>
          <a:solidFill>
            <a:srgbClr val="2D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맑은 고딕"/>
              </a:rPr>
              <a:t>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맑은 고딕"/>
              </a:rPr>
              <a:t>회사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ABC인테리어 (강남 일대 4명 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맑은 고딕"/>
              </a:rPr>
              <a:t>견적 담당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118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김미영 사원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맑은 고딕"/>
              </a:rPr>
              <a:t>클라이언트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0233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박상철 (40대 4인 가족, 6주 후 입주 예정)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맑은 고딕"/>
              </a:rPr>
              <a:t>프로젝트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4348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강남 래미안 304-1502, 30평 전면 리모델링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맑은 고딕"/>
              </a:rPr>
              <a:t>예산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8463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약 5,000만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맑은 고딕"/>
              </a:rPr>
              <a:t>다음 7컷으로 시간순 따라갑니다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SUPLEX  ·  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맑은 고딕"/>
              </a:rPr>
              <a:t>미팅 직후 — 프로젝트 등록 + 마감재 빠르게 채움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2103120"/>
            <a:ext cx="4480560" cy="4114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286000"/>
            <a:ext cx="40233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프로젝트명 :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강남 래미안 304-1502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리모델링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고객명     : 박상철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주소       : 서울 강남구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           도곡동 123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           304동 1502호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면적       : 30평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시작 예정  : 2026-05-15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종료 예정  : 2026-06-26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토요일 오후 2시 미팅이 끝납니다.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사무실에 돌아온 김미영 사원이 새 프로젝트를 만듭니다.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비슷한 평형의 이전 프로젝트 데이터를 참고해서 마감재를 빠르게 채웁니다.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회사가 진행한 프로젝트가 쌓일수록 새 프로젝트는 더 빨라집니다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키보드만으로 빠르게. Tab으로 다음 필드, 마지막 필드에서 다음 행 자동 펼침.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1초 뒤 자동 저장. 저장 버튼 따로 누르지 않아도 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맑은 고딕"/>
              </a:rPr>
              <a:t>가전 모델 입력 — 사이즈가 자동으로 들어옵니다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2103120"/>
            <a:ext cx="4480560" cy="4114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286000"/>
            <a:ext cx="40233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검색: "LG DUE6"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→ LG DUE6BGL2E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(BESPOKE 빌트인)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가로 : 595 mm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세로 : 815 mm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깊이 : 600 mm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[선택]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빌트인 가구가 안 맞아 재시공하는 사고를 방지합니다.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마감재 행에 모델명을 검색하면 모델 품번·브랜드·사이즈가 한 번에 입력됩니다.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사이즈 출처 URL도 함께 저장됩니다.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냉장고·김치냉장고·식기세척기 366개 모델이 미리 정리되어 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사용자가 새 모델을 입력하면 회사만의 가전 DB에 자동 누적됩니다.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다음 프로젝트에서는 그 모델이 바로 검색됩니다.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4800A"/>
                </a:solidFill>
                <a:latin typeface="맑은 고딕"/>
              </a:rPr>
              <a:t>공정 일정 — 어디서든 한 화면에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맑은 고딕"/>
              </a:rPr>
              <a:t>컷 3-1  ·  메인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수플렉스의 메인 기능. 모바일에서도 공정 이름이 글씨로 직접 보입니다.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일반 달력 앱은 셀이 좁아 클릭해야 팝업으로만 글씨가 보입니다.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수플렉스는 인테리어 공정에 맞춰 한 화면에 최대한 많은 정보가 보이게 설계.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현장에서 모바일을 꺼내자마자 오늘·이번 주 공정이 한눈에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현장에서 일정이 바뀌면 즉시 모바일에서 수정.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사무실 디자이너 화면에 곧바로 반영됩니다.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일정 정보가 개인의 머리 속이 아니라 회사 시스템 안에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4800A"/>
                </a:solidFill>
                <a:latin typeface="맑은 고딕"/>
              </a:rPr>
              <a:t>탭별 최적화 + 일정 픽스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맑은 고딕"/>
              </a:rPr>
              <a:t>컷 3-2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모든 팀원이 같은 화면을 봅니다 (지출 탭 제외).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일정 탭 — 현장팀 우선. 여러 현장 일정·체크리스트 넘나들기 좋게.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마감재 탭 — 디자이너 우선. 마감재 추가·제거 빠른 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대표 — 모든 데이터 한 화면. 지출 탭에서 회사 전체 금전 흐름.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일정 픽스 — 계획과 확정의 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처음엔 계획으로 입력 → 협력업체 섭외 끝난 일정만 픽스로 바꿈.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잡힌 일정과 미정 일정을 팀 전체가 한 화면에서 구분합니다.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엑셀·노션·달력 앱에는 없는 소통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4800A"/>
                </a:solidFill>
                <a:latin typeface="맑은 고딕"/>
              </a:rPr>
              <a:t>D-day 알림 — 임박한 발주만 자동으로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맑은 고딕"/>
              </a:rPr>
              <a:t>컷 4-1  ·  메인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23760" y="2103120"/>
            <a:ext cx="4480560" cy="4114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2286000"/>
            <a:ext cx="40233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타일 시공 시작: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2026-05-29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발주 마감: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2026-05-22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(시공 7일 전)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오늘  : 2026-05-19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→ 발주 화면에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"타일 D-3 임박"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칩 자동 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자재 발주 누락은 인테리어 공사의 가장 큰 사고입니다.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회사가 등록해둔 공정별 발주 데드라인 규칙대로 시스템이 자동 어드바이스.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타일 시공 7일 전, 도배 5일 전, 바닥재 7일 전 자재 도착 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발주 메뉴에 임박 항목이 통계 카드로 강조됩니다.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모델 미정 경고로 자재 미확정 상태에서 데드라인 지나는 일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Solapi 카카오 알림톡 연동 시 N일 전 자동 알림톡까지.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4800A"/>
                </a:solidFill>
                <a:latin typeface="맑은 고딕"/>
              </a:rPr>
              <a:t>사전 체크리스트 — 일정만 입력하면 자동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맑은 고딕"/>
              </a:rPr>
              <a:t>컷 4-2  ·  메인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노련한 사장님이 챙기던 사전 액션이 신입에게 빠지는 일을 방지합니다.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일정에 "도배"를 입력하는 순간: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  · 도배 D-3 "벽지 도착 확인" 자동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  · 도배 D-1 "초벌 풀칠 준비" 자동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회사가 한 번 표준 어드바이스를 등록해두면 모든 프로젝트가 같은 표준으로.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사장님 머리 속 "이쯤 되면 이거 챙겨야 한다" 노하우를 신입도 똑같이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회사가 일찍 표준을 등록해둘수록 누가 일을 진행하든 같은 품질 보장.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맑은 고딕"/>
              </a:rPr>
              <a:t>발주서 자동 작성 — 협력업체에 카톡 형식으로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2103120"/>
            <a:ext cx="4480560" cy="4114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286000"/>
            <a:ext cx="40233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[ABC인테리어]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[강남 304-1502]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[현장 정보]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주소: 도곡동 123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   1502호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담당: 김미영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도착: 2026-05-27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[욕실 타일 자재]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타일 600각: 15박스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본드 X18  : 6포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줄눈 화이트: 4봉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유가 도무스: 2개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코너비드  : 8개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마감재 확정 → 발주 탭으로 자연스럽게 이어집니다.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보낼 항목 체크 후 "선택 복사".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발주서가 카톡 친화 형식으로 자동 작성, 클립보드에 복사됩니다.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협력업체 사장님 카톡방에 그대로 붙여넣기.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협력업체와의 소통 채널을 바꿀 필요 없이, 정리된 정보만 전달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맑은 고딕"/>
              </a:rPr>
              <a:t>일정 추출 — 작업자에게 보낼 안내를 한 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2103120"/>
            <a:ext cx="4480560" cy="4114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286000"/>
            <a:ext cx="40233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[ABC인테리어]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[304-1502]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[전기 공사 안내]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[공사 일정]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2026-05-18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09:00 설비·전기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[현장 정보]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주소: 도곡동 123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   1502호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담당: 김미영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특이: 1502호 좌측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    09시 양해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일정·주소·주의사항을 매번 타이핑하는 일은 가장 반복되는 잡일입니다.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일정 탭에서 "일정 추출" → 검색창에 「전기」 입력.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그 프로젝트의 전기 공정 일정 + 주소 + 특이사항이 클립보드에 복사.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전기팀 사장님 카톡방에 그대로 붙여넣기.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회사 전체 일정에서 추출하면 모든 현장의 전기 공사 일정이 한 번에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엑셀·노션·달력 앱에서 매번 손으로 정리하던 작업이 한 클릭으로.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03. 실전 시나리오  ·  컷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B4800A"/>
                </a:solidFill>
                <a:latin typeface="맑은 고딕"/>
              </a:rPr>
              <a:t>프로젝트 기록 — 머리에서 시스템으로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23760" y="2103120"/>
            <a:ext cx="4480560" cy="41148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2286000"/>
            <a:ext cx="402336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[태그: 현장환경]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강남 래미안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304-1502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거실 천장 8cm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매립등 X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표면형 권장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 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[태그: A/S]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박상철 안방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욕실 수전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슈베르트 SK-1240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시공 1개월 헐거움</a:t>
            </a:r>
          </a:p>
          <a:p>
            <a:pPr algn="l"/>
            <a:r>
              <a:rPr sz="1000">
                <a:solidFill>
                  <a:srgbClr val="FFFFFF"/>
                </a:solidFill>
                <a:latin typeface="맑은 고딕"/>
              </a:rPr>
              <a:t>다음 토크 강하게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인테리어 노하우는 대부분 사람의 머리 속에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박상철 시공 3주 차, 거실 천장 8cm 발견 → 표면 매입형으로 변경 + 메모.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준공 1개월 후 안방 욕실 수전 헐거움 A/S → 메모.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석 달 뒤, 같은 아파트 다른 호수 견적 → 검색 한 번에 과거 노하우 즉시.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직원이 그만두는 순간 회사 자산이 함께 사라지는 일을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</a:rPr>
              <a:t>추후 AI 도입으로 비슷한 현장 자동 매칭, 과거 노하우 어드바이스 예정.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4800A"/>
                </a:solidFill>
                <a:latin typeface="맑은 고딕"/>
              </a:rPr>
              <a:t>일찍 도입할수록 회사만의 데이터 자산이 두꺼워집니다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0" b="1">
                <a:solidFill>
                  <a:srgbClr val="FBBF24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핵심 차별점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29200"/>
            <a:ext cx="54864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SUPLEX  ·  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04. 핵심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맑은 고딕"/>
              </a:rPr>
              <a:t>왜 수플렉스를 도입해야 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577840" cy="1033271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맑은 고딕"/>
              </a:rPr>
              <a:t>개인 능력 → 회사 능력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맑은 고딕"/>
              </a:rPr>
              <a:t>직원 머리 속 노하우가 회사 시스템 자산으로. 일을 쌓을수록 회사 능력이 두꺼워집니다.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577840" cy="1033271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933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사전 체크리스트 자동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맑은 고딕"/>
              </a:rPr>
              <a:t>일정만 입력하면 회사 표준 어드바이스가 작동. 노련한 사장님 노하우를 신입도 똑같이.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1"/>
            <a:ext cx="5577840" cy="1033271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3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클라이언트 비접근 원칙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02151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맑은 고딕"/>
              </a:rPr>
              <a:t>회사 영업 정보가 클라이언트에게 보이지 않습니다. PDF만 갑니다.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953511"/>
            <a:ext cx="5577840" cy="1033271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118103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어디서든 접근, 모바일 우선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02151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맑은 고딕"/>
              </a:rPr>
              <a:t>현장에서 즉시 확인·수정·변경. 모바일에서 공정명이 글씨로 직접 보입니다.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78222"/>
            <a:ext cx="5577840" cy="1033271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4281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일정 픽스 — 계획과 확정 구분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맑은 고딕"/>
              </a:rPr>
              <a:t>협력업체 섭외 완료된 일정만 픽스. 잡힌 일정과 미정 일정을 한 화면에서 구분.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78222"/>
            <a:ext cx="5577840" cy="1033271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24281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일정·발주 텍스트 추출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62686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맑은 고딕"/>
              </a:rPr>
              <a:t>작업자·협력업체에 보낼 안내를 매번 타이핑할 필요 없음. 한 번에 클립보드로.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02933"/>
            <a:ext cx="5577840" cy="1033271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6752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JSON 통째 백업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51573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맑은 고딕"/>
              </a:rPr>
              <a:t>회사 전체 데이터를 언제든 한 파일로. 락인 없음.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202933"/>
            <a:ext cx="5577840" cy="1033271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367525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맑은 고딕"/>
              </a:rPr>
              <a:t>AI 경리 (예정)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751573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맑은 고딕"/>
              </a:rPr>
              <a:t>추후 통장 데이터 자동 → 프로젝트별 손익 자동 계산 예정.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맑은 고딕"/>
              </a:rPr>
              <a:t>05. 도입 첫날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맑은 고딕"/>
              </a:rPr>
              <a:t>30분~1시간 안에 마치시면 첫 견적이 빠르게 나갑니다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933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회사 정보 입력 (회사명·사업자번호·주소·연락처·이메일)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505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회사 로고 URL 등록 — 견적서 PDF 헤더에 들어감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077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8346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견적 기본비율 12개 점검 — 디자인비 10%, 부가세 등 회사 표준에 맞게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649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가전 규격 마스터 시드 — 366개 모델 일괄 등록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8221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7490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공정별 발주 데드라인 규칙 등록 — 회사 표준 D-day 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2793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2062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사전 체크리스트(어드바이스) 표준 등록 — 회사 표준 노하우 자산화의 시작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365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6634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팀원 초대 — 대표 / 디자이너 / 현장팀 역할 부여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937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1206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협력업체 5~10개 등록 — 발주·소통 시 자동완성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6509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5778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기능 표시 설정 점검 — 직원 공유 계정에서 영업 정보 차단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A3AF"/>
                </a:solidFill>
                <a:latin typeface="맑은 고딕"/>
              </a:rPr>
              <a:t>SUPLEX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맑은 고딕"/>
              </a:rPr>
              <a:t>06. 다음 행동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도입 검토를 시작하시려면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2D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맑은 고딕"/>
              </a:rPr>
              <a:t>데모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맑은 고딕"/>
              </a:rPr>
              <a:t>현장 미팅 시간 잡고 직접 보여드립니다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76148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맑은 고딕"/>
              </a:rPr>
              <a:t>_______________________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4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2D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맑은 고딕"/>
              </a:rPr>
              <a:t>시범 도입 문의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07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맑은 고딕"/>
              </a:rPr>
              <a:t>회사 1곳 1주 무료 시범 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1304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맑은 고딕"/>
              </a:rPr>
              <a:t>_______________________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2D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맑은 고딕"/>
              </a:rPr>
              <a:t>일반 문의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023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맑은 고딕"/>
              </a:rPr>
              <a:t>기능·요금·도입 절차 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8646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CA3AF"/>
                </a:solidFill>
                <a:latin typeface="맑은 고딕"/>
              </a:rPr>
              <a:t>_______________________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맑은 고딕"/>
              </a:rPr>
              <a:t>수플렉스가 잘 잡아주는 부분만 안에서 굴리고, 기존 채널은 그대로 쓰시면 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SUPLEX  ·  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E5E7EB"/>
                </a:solidFill>
                <a:latin typeface="맑은 고딕"/>
              </a:rPr>
              <a:t>Suplex — 인테리어 회사를 위한 통합 운영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BBF24"/>
                </a:solidFill>
                <a:latin typeface="맑은 고딕"/>
              </a:rPr>
              <a:t>사람이 떠나도 회사는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  <a:latin typeface="맑은 고딕"/>
              </a:rPr>
              <a:t>SUPLEX  ·  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