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011680"/>
            <a:ext cx="73152" cy="31089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11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맑은 고딕"/>
              </a:rPr>
              <a:t>수플렉스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5E7EB"/>
                </a:solidFill>
                <a:latin typeface="맑은 고딕"/>
              </a:rPr>
              <a:t>한 사람의 능력이 아니라,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BBF24"/>
                </a:solidFill>
                <a:latin typeface="맑은 고딕"/>
              </a:rPr>
              <a:t>회사 전체의 능력이 올라갑니다.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맑은 고딕"/>
              </a:rPr>
              <a:t>효율로 더 많은 매출을 만드는 인테리어 회사 운영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CA3AF"/>
                </a:solidFill>
                <a:latin typeface="맑은 고딕"/>
              </a:rPr>
              <a:t>도입 검토용 소개서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01.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이런 적 있으세요?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현장에서 사무실에 전화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889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"마감재 뭐였지?"  "타일 언제 잡았지?"
"마감재 확정됐어?"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작업자·자재상 섭외 십수번 반복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8892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현장 주소·상황을 매번 같은 내용으로
손으로 타이핑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프로젝트 노하우 휘발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끝난 프로젝트의 피드백·자재 노하우 —
어디 남겼는지 까먹어서 반영 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31920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2062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발주 데드라인 망실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"오늘까지 발주했어야 했는데" —
사람이 까먹어서 자재가 늦음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521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맑은 고딕"/>
              </a:rPr>
              <a:t>기록이 한곳에 정렬되지 않으면 놓치는 정보가 생기기 마련입니다.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02. CONTRAST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예전 방식 vs 수플렉스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9CA3AF"/>
                </a:solidFill>
                <a:latin typeface="맑은 고딕"/>
              </a:rPr>
              <a:t>예전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F2937"/>
                </a:solidFill>
                <a:latin typeface="맑은 고딕"/>
              </a:rPr>
              <a:t>엑셀 + 카톡 + 종이노트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정보가 3~5곳에 흩어짐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변경 시 매번 수동 동기화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현장에서 사무실에 전화로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작업자 안내 매번 손으로 타이핑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74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74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데드라인은 사람이 기억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486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91C1C"/>
                </a:solidFill>
                <a:latin typeface="맑은 고딕"/>
              </a:rPr>
              <a:t>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</a:rPr>
              <a:t>노하우는 한 사람의 머릿속에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0116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맑은 고딕"/>
              </a:rPr>
              <a:t>수플렉스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60604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한 화면, 시스템이 챙김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29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429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한 화면에 통합 (공정 현황 통합 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8404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한 곳 입력 → 자동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2519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모바일에서 즉시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6634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카톡 텍스트 시스템이 자동 정리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74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074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시스템이 D-day 자동 챙김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5486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맑은 고딕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노하우는 회사 자산으로 누적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수플렉스가 잡습니다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B4800A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지난 프로젝트의 노하우가 지금 살아납니다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프로젝트 기록 검색 + 가전 DB 누적 + 자재 불러오기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B4800A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시스템이 데드라인을 챙깁니다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90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한국 표준 5묶음 자동 적용 + D-day 자동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BBF24"/>
                </a:solidFill>
                <a:latin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83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카톡 텍스트 자동 정리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  <a:latin typeface="맑은 고딕"/>
              </a:rPr>
              <a:t>일정 복사 + 발주서 자동 작성 + 인건비 정산 카톡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434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FBBF24"/>
                </a:solidFill>
                <a:latin typeface="맑은 고딕"/>
              </a:rPr>
              <a:t>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6052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3891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BBF24"/>
                </a:solidFill>
                <a:latin typeface="맑은 고딕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983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4~10개 현장이 한 화면에서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  <a:latin typeface="맑은 고딕"/>
              </a:rPr>
              <a:t>공정 현황 통합 뷰 + 모바일 가독성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4434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FBBF24"/>
                </a:solidFill>
                <a:latin typeface="맑은 고딕"/>
              </a:rPr>
              <a:t>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03. SOLUTION  · 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맑은 고딕"/>
              </a:rPr>
              <a:t>지난 프로젝트의 노하우가 지금 현장에서 다시 살아납니다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7132320" cy="118872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800A"/>
                </a:solidFill>
                <a:latin typeface="맑은 고딕"/>
              </a:rPr>
              <a:t>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맑은 고딕"/>
              </a:rPr>
              <a:t>"3년 전 그 화이트 강마루, 입주 후 반응이 어땠지?"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검색 한 번으로 그때의 피드백·A/S 기록·고객 반응이 떠오릅니다.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비슷한 사례의 현장이 들어왔을 때, 회사가 쌓아온 결정과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결과가 그대로 다음 판단에 쓰입니다.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17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83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견적·자재·가전 모델은 한 번 입력하면 회사 데이터에 누적,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두 번째 같은 자재를 처음부터 만들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10312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2860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[검색: 강마루]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2024-03  강남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동부센트레빌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303-1502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자재 : 동화 화이트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      강마루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반응 : 우수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      2년차 변색 X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A/S  : 1회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      걸레받이 코킹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→ 같은 자재</a:t>
            </a:r>
          </a:p>
          <a:p>
            <a:pPr algn="l"/>
            <a:r>
              <a:rPr sz="1000">
                <a:solidFill>
                  <a:srgbClr val="FFFFFF"/>
                </a:solidFill>
                <a:latin typeface="맑은 고딕"/>
              </a:rPr>
              <a:t>  추천 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03. SOLUTION  · 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맑은 고딕"/>
              </a:rPr>
              <a:t>시스템이 데드라인을 챙깁니다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7132320" cy="14173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맑은 고딕"/>
              </a:rPr>
              <a:t>가입 첫날부터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한국 인테리어 표준 5묶음이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회사에 깔려있습니다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공정 · 키워드 · D-N 룰 · 체크리스트 · 견적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일정에 "도배" 입력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754880"/>
            <a:ext cx="640080" cy="4114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006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E3A5F"/>
                </a:solidFill>
                <a:latin typeface="맑은 고딕"/>
              </a:rPr>
              <a:t>D-3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006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맑은 고딕"/>
              </a:rPr>
              <a:t>"벽지 도착 확인" 자동 추가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257800"/>
            <a:ext cx="640080" cy="4114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035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E3A5F"/>
                </a:solidFill>
                <a:latin typeface="맑은 고딕"/>
              </a:rPr>
              <a:t>D-1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3035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7"/>
                </a:solidFill>
                <a:latin typeface="맑은 고딕"/>
              </a:rPr>
              <a:t>"초벌 풀칠 준비" 자동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10312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31089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맑은 고딕"/>
              </a:rPr>
              <a:t>사람이 까먹어도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6118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맑은 고딕"/>
              </a:rPr>
              <a:t>시스템이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1148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맑은 고딕"/>
              </a:rPr>
              <a:t>까먹지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800A"/>
                </a:solidFill>
                <a:latin typeface="맑은 고딕"/>
              </a:rPr>
              <a:t>03. SOLUTION  ·  ③  ·  메인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맑은 고딕"/>
              </a:rPr>
              <a:t>카톡으로 보낼 텍스트는 시스템이 정리합니다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657600" cy="23317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774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맑은 고딕"/>
              </a:rPr>
              <a:t>일정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키워드 "전기" 한 번 →
4개 현장 일정·주소·특이사항이
카톡 텍스트로 한 번에 복사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6260" y="2103120"/>
            <a:ext cx="3657600" cy="23317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23774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0580" y="25146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맑은 고딕"/>
              </a:rPr>
              <a:t>발주서 자동 작성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0580" y="30632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마감재 체크 →
자재상에게 보낼 카톡 텍스트로
자동 변환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103120"/>
            <a:ext cx="3657600" cy="23317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37744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51460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맑은 고딕"/>
              </a:rPr>
              <a:t>인건비 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0632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작업자별 [일수×단가
+식비+교통비] 자동 합산 →
송금용 카톡 텍스트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맑은 고딕"/>
              </a:rPr>
              <a:t>매번 십수번 반복 타이핑하던 잡일이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맑은 고딕"/>
              </a:rPr>
              <a:t>한 번의 클릭으로 끝납니다.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맑은 고딕"/>
              </a:rPr>
              <a:t>* 카카오톡 알림 준비 중 — 베타 이후 회사의 알림 채널로 임박한 데드라인이 자동 전달됩니다.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800A"/>
                </a:solidFill>
                <a:latin typeface="맑은 고딕"/>
              </a:rPr>
              <a:t>03. SOLUTION  ·  ④  ·  메인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맑은 고딕"/>
              </a:rPr>
              <a:t>4~10개 현장이 한 화면에서 보입니다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B4800A"/>
                </a:solidFill>
                <a:latin typeface="맑은 고딕"/>
              </a:rPr>
              <a:t>공정 현황 통합 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80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25공정 × (견적·마감재·일정·발주) 매트릭스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빠뜨린 항목·임박한 데드라인이 색깔로 강조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11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프로젝트별로 어디까지 왔는지 한눈에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모바일에서 글씨가 직접 보입니다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팝업 클릭으로 확인하던 잡일이 사라집니다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맑은 고딕"/>
              </a:rPr>
              <a:t>▸ 현장에서 사무실에 전화할 일이 없어집니다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194560"/>
            <a:ext cx="3886200" cy="402336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23774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B5563"/>
                </a:solidFill>
                <a:latin typeface="맑은 고딕"/>
              </a:rPr>
              <a:t>공정 현황 (예시)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8803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공정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4612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타일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24612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324612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324612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324612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800A"/>
                </a:solidFill>
                <a:latin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3630168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도배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3630168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3630168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3630168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3630168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01421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전기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01421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401421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401421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401421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3982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바닥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4398264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4398264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4398264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800A"/>
                </a:solidFill>
                <a:latin typeface="맑은 고딕"/>
              </a:rPr>
              <a:t>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4398264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4782312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주방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782312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5803D"/>
                </a:solidFill>
                <a:latin typeface="맑은 고딕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4782312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800A"/>
                </a:solidFill>
                <a:latin typeface="맑은 고딕"/>
              </a:rPr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4782312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4782312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2440" y="5166360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</a:rPr>
              <a:t>가구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516636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800A"/>
                </a:solidFill>
                <a:latin typeface="맑은 고딕"/>
              </a:rPr>
              <a:t>!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516636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516636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81360" y="5166360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91C1C"/>
                </a:solidFill>
                <a:latin typeface="맑은 고딕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2440" y="571500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맑은 고딕"/>
              </a:rPr>
              <a:t>✓ 완료   ! 임박   ✗ 누락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BBF24"/>
                </a:solidFill>
                <a:latin typeface="맑은 고딕"/>
              </a:rPr>
              <a:t>수플렉스의 메인 테마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맑은 고딕"/>
              </a:rPr>
              <a:t>회사의 노하우는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FBBF24"/>
                </a:solidFill>
                <a:latin typeface="맑은 고딕"/>
              </a:rPr>
              <a:t>회사 안에 남습니다.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9CA3AF"/>
                </a:solidFill>
                <a:latin typeface="맑은 고딕"/>
              </a:rPr>
              <a:t>견적 기준 · 자재 결정 · 현장 환경 · 고객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맑은 고딕"/>
              </a:rPr>
              <a:t>한 사람의 머릿속이 아니라 회사의 자산으로 누적됩니다.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E5E7EB"/>
                </a:solidFill>
                <a:latin typeface="맑은 고딕"/>
              </a:rPr>
              <a:t>담당자가 바뀌어도 다음 사람이 그 자리를 그대로 이어받습니다.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04.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다른 도구와 무엇이 다른가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1109960" cy="118872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BBF24"/>
                </a:solidFill>
                <a:latin typeface="맑은 고딕"/>
              </a:rPr>
              <a:t>회사 자산화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5E7EB"/>
                </a:solidFill>
                <a:latin typeface="맑은 고딕"/>
              </a:rPr>
              <a:t>직원 머릿속 노하우가 회사 자산으로. 일을 쌓을수록 도구가 더 강해집니다.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3756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387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시스템 프리셋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가입 첫날부터 한국 인테리어 표준 5묶음이 깔린 도구. 빈 도구가 아닙니다.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33756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5387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모바일 우선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7764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현장에서 글씨 직접 보임. 사무실에 전화할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0060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017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클라이언트 비접근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440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회사 영업 정보가 클라이언트에 노출 X. PDF만 발송됩니다.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80060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500176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맑은 고딕"/>
              </a:rPr>
              <a:t>락인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440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JSON으로 회사 전체 데이터를 통째 백업. 떠나고 싶을 때 떠날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맑은 고딕"/>
              </a:rPr>
              <a:t>05. CLOSE BETA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</a:rPr>
              <a:t>클로즈 베타 — 평생 20% 할인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맑은 고딕"/>
              </a:rPr>
              <a:t>2개월 무료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결제 정보 등록 X · 카드 등록 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맑은 고딕"/>
              </a:rPr>
              <a:t>프로 등급 풀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80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도구의 모든 기능을 그대로 체험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118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맑은 고딕"/>
              </a:rPr>
              <a:t>정식 출시 후 평생 20% 할인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어느 등급이든 영구 적용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886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  <a:latin typeface="맑은 고딕"/>
              </a:rPr>
              <a:t>락인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JSON 백업으로 데이터 통째 가져갈 수 있음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66360"/>
            <a:ext cx="11109960" cy="91440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맑은 고딕"/>
              </a:rPr>
              <a:t>카톡·엑셀 다 버리지 마세요.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6928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5F"/>
                </a:solidFill>
                <a:latin typeface="맑은 고딕"/>
              </a:rPr>
              <a:t>수플렉스는 그 사이에 흩어진 정보만 모아줍니다.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06.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도입 첫날 30분 — 변화는 가볍게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31136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2199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초대 링크 클릭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221992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이름·비밀번호 설정 → 자동으로 회사 가입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0779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035808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266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한국 표준 5묶음 자동 복사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026664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공정·키워드·D-N 룰·체크리스트·견적 가이드가 첫날부터 깔림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1246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3840480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31336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회사 정보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831336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회사명·로고·연락처. 견적서 PDF 헤더에 자동 반영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1713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645152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63600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팀원 초대 (선택)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636008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디자이너·현장팀 역할 부여. 멤버 무제한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5449824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406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맑은 고딕"/>
              </a:rPr>
              <a:t>첫 프로젝트 등록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4406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다음 신규 현장부터 시작. 옛날 프로젝트 다 옮길 필요 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맑은 고딕"/>
              </a:rPr>
              <a:t>기존 카톡·엑셀은 그대로 쓰세요. 수플렉스는 그 사이에 흩어진 정보만 모아줍니다.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07.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맑은 고딕"/>
              </a:rPr>
              <a:t>가격 패키지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657600" cy="3749039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스타터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611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맑은 고딕"/>
              </a:rPr>
              <a:t>₩59,000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206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/월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소규모 회사 시작용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3035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</a:rPr>
              <a:t>프로젝트·용량 등급별 정원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6260" y="2103120"/>
            <a:ext cx="3657600" cy="3749039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300" y="24688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맑은 고딕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630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프로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6300" y="3611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BBF24"/>
                </a:solidFill>
                <a:latin typeface="맑은 고딕"/>
              </a:rPr>
              <a:t>₩99,000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6300" y="4206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  <a:latin typeface="맑은 고딕"/>
              </a:rPr>
              <a:t>/월 (베타 ₩79,200)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630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E5E7EB"/>
                </a:solidFill>
                <a:latin typeface="맑은 고딕"/>
              </a:rPr>
              <a:t>메인 추천 등급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300" y="53035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프로젝트 무제한 · 멤버 무제한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26580" y="2423160"/>
            <a:ext cx="868680" cy="292608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6580" y="245059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E3A5F"/>
                </a:solidFill>
                <a:latin typeface="맑은 고딕"/>
              </a:rPr>
              <a:t>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103120"/>
            <a:ext cx="3657600" cy="3749039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4688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A3AF"/>
                </a:solidFill>
                <a:latin typeface="맑은 고딕"/>
              </a:rPr>
              <a:t>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8803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엔터프라이즈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611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맑은 고딕"/>
              </a:rPr>
              <a:t>₩179,000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206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/월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800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맑은 고딕"/>
              </a:rPr>
              <a:t>회사 표준 자유 편집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3035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</a:rPr>
              <a:t>+ 프리셋 자체 편집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8076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4800A"/>
                </a:solidFill>
                <a:latin typeface="맑은 고딕"/>
              </a:rPr>
              <a:t>베타 회원 평생 20% 할인 — 어느 등급이든 영구 적용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맑은 고딕"/>
              </a:rPr>
              <a:t>08.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다음 행동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4864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맑은 고딕"/>
              </a:rPr>
              <a:t>데모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현장에서 직접 시연 — 1시간 안에 핵심 기능 모두 보여드립니다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7004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9CA3AF"/>
                </a:solidFill>
                <a:latin typeface="맑은 고딕"/>
              </a:rPr>
              <a:t>_______________________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931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맑은 고딕"/>
              </a:rPr>
              <a:t>베타 시범 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2개월 무료 + 평생 20% — 일단 회사 1곳에서 첫 현장부터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76732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9CA3AF"/>
                </a:solidFill>
                <a:latin typeface="맑은 고딕"/>
              </a:rPr>
              <a:t>_______________________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1109960" cy="960120"/>
          </a:xfrm>
          <a:prstGeom prst="roundRect">
            <a:avLst>
              <a:gd name="adj" fmla="val 6000"/>
            </a:avLst>
          </a:prstGeom>
          <a:solidFill>
            <a:srgbClr val="2D4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365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맑은 고딕"/>
              </a:rPr>
              <a:t>일반 문의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5E7EB"/>
                </a:solidFill>
                <a:latin typeface="맑은 고딕"/>
              </a:rPr>
              <a:t>기능·요금·도입 절차 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864608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9CA3AF"/>
                </a:solidFill>
                <a:latin typeface="맑은 고딕"/>
              </a:rPr>
              <a:t>_______________________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BBF24"/>
                </a:solidFill>
                <a:latin typeface="맑은 고딕"/>
              </a:rPr>
              <a:t>한 사람의 능력이 아니라, 회사 전체의 능력이 올라갑니다.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9CA3AF"/>
                </a:solidFill>
                <a:latin typeface="맑은 고딕"/>
              </a:rPr>
              <a:t>SUPLEX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CA3AF"/>
                </a:solidFill>
                <a:latin typeface="맑은 고딕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